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11949113" cy="6721475"/>
  <p:notesSz cx="7939088" cy="11423650"/>
  <p:embeddedFontLst>
    <p:embeddedFont>
      <p:font typeface="Assistant" pitchFamily="2" charset="-79"/>
      <p:regular r:id="rId4"/>
      <p:bold r:id="rId5"/>
    </p:embeddedFont>
    <p:embeddedFont>
      <p:font typeface="Quattrocento Sans" panose="020B060402020202020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7">
          <p15:clr>
            <a:srgbClr val="A4A3A4"/>
          </p15:clr>
        </p15:guide>
        <p15:guide id="2" pos="376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599">
          <p15:clr>
            <a:srgbClr val="A4A3A4"/>
          </p15:clr>
        </p15:guide>
        <p15:guide id="2" pos="2501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8rTq5+e4qj6Pb7OA8ZQ2Fdt93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1" autoAdjust="0"/>
  </p:normalViewPr>
  <p:slideViewPr>
    <p:cSldViewPr snapToGrid="0">
      <p:cViewPr varScale="1">
        <p:scale>
          <a:sx n="109" d="100"/>
          <a:sy n="109" d="100"/>
        </p:scale>
        <p:origin x="720" y="102"/>
      </p:cViewPr>
      <p:guideLst>
        <p:guide orient="horz" pos="2117"/>
        <p:guide pos="37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599"/>
        <p:guide pos="25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28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88925" y="614363"/>
            <a:ext cx="7418388" cy="41735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42901" y="6138383"/>
            <a:ext cx="6765419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051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sldNum" idx="12"/>
          </p:nvPr>
        </p:nvSpPr>
        <p:spPr>
          <a:xfrm>
            <a:off x="7085002" y="10998418"/>
            <a:ext cx="629819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 txBox="1">
            <a:spLocks noGrp="1"/>
          </p:cNvSpPr>
          <p:nvPr>
            <p:ph type="ftr" idx="11"/>
          </p:nvPr>
        </p:nvSpPr>
        <p:spPr>
          <a:xfrm>
            <a:off x="7714756" y="130618"/>
            <a:ext cx="6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>
            <a:spLocks noGrp="1"/>
          </p:cNvSpPr>
          <p:nvPr>
            <p:ph type="body" idx="1"/>
          </p:nvPr>
        </p:nvSpPr>
        <p:spPr>
          <a:xfrm>
            <a:off x="642901" y="6138383"/>
            <a:ext cx="6765419" cy="123110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1" name="Google Shape;2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8925" y="614363"/>
            <a:ext cx="7418388" cy="41735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9294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ean">
  <p:cSld name="Clean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9"/>
          <p:cNvPicPr preferRelativeResize="0"/>
          <p:nvPr/>
        </p:nvPicPr>
        <p:blipFill rotWithShape="1">
          <a:blip r:embed="rId2">
            <a:alphaModFix/>
          </a:blip>
          <a:srcRect r="23279"/>
          <a:stretch/>
        </p:blipFill>
        <p:spPr>
          <a:xfrm flipH="1">
            <a:off x="2780522" y="0"/>
            <a:ext cx="9163350" cy="67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9"/>
          <p:cNvSpPr txBox="1">
            <a:spLocks noGrp="1"/>
          </p:cNvSpPr>
          <p:nvPr>
            <p:ph type="title"/>
          </p:nvPr>
        </p:nvSpPr>
        <p:spPr>
          <a:xfrm>
            <a:off x="543685" y="663542"/>
            <a:ext cx="10861744" cy="400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 rtl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0A4D8"/>
              </a:buClr>
              <a:buSzPts val="2800"/>
              <a:buFont typeface="Assistan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1943872" cy="67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7"/>
          <p:cNvSpPr txBox="1">
            <a:spLocks noGrp="1"/>
          </p:cNvSpPr>
          <p:nvPr>
            <p:ph type="body" idx="1"/>
          </p:nvPr>
        </p:nvSpPr>
        <p:spPr>
          <a:xfrm>
            <a:off x="543685" y="2128468"/>
            <a:ext cx="10861744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30200" algn="r" rtl="1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​"/>
              <a:defRPr sz="16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30200" algn="r" rtl="1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30200" algn="r" rtl="1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—"/>
              <a:defRPr sz="16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30200" algn="r" rtl="1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«"/>
              <a:defRPr sz="16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30200" algn="r" rtl="1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‹"/>
              <a:defRPr sz="16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28167" algn="r" rtl="1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568"/>
              <a:buFont typeface="Arial"/>
              <a:buChar char="▫"/>
              <a:defRPr sz="1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8167" algn="r" rtl="1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568"/>
              <a:buFont typeface="Arial"/>
              <a:buChar char="▫"/>
              <a:defRPr sz="1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8167" algn="r" rtl="1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568"/>
              <a:buFont typeface="Arial"/>
              <a:buChar char="▫"/>
              <a:defRPr sz="1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8167" algn="r" rtl="1">
              <a:lnSpc>
                <a:spcPct val="100000"/>
              </a:lnSpc>
              <a:spcBef>
                <a:spcPts val="294"/>
              </a:spcBef>
              <a:spcAft>
                <a:spcPts val="294"/>
              </a:spcAft>
              <a:buClr>
                <a:schemeClr val="dk1"/>
              </a:buClr>
              <a:buSzPts val="1568"/>
              <a:buFont typeface="Arial"/>
              <a:buChar char="▫"/>
              <a:defRPr sz="15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" name="Google Shape;10;p17"/>
          <p:cNvPicPr preferRelativeResize="0"/>
          <p:nvPr/>
        </p:nvPicPr>
        <p:blipFill rotWithShape="1">
          <a:blip r:embed="rId4">
            <a:alphaModFix/>
          </a:blip>
          <a:srcRect l="3842" t="3989" r="65228" b="82097"/>
          <a:stretch/>
        </p:blipFill>
        <p:spPr>
          <a:xfrm>
            <a:off x="345622" y="292007"/>
            <a:ext cx="2659472" cy="67319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7"/>
          <p:cNvSpPr txBox="1">
            <a:spLocks noGrp="1"/>
          </p:cNvSpPr>
          <p:nvPr>
            <p:ph type="title"/>
          </p:nvPr>
        </p:nvSpPr>
        <p:spPr>
          <a:xfrm>
            <a:off x="543685" y="663505"/>
            <a:ext cx="10861744" cy="400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r" rtl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0A4D8"/>
              </a:buClr>
              <a:buSzPts val="2800"/>
              <a:buFont typeface="Assistant"/>
              <a:buNone/>
              <a:defRPr sz="2800" b="1" i="0" u="none" strike="noStrike" cap="none">
                <a:solidFill>
                  <a:srgbClr val="70A4D8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2" orient="horz" pos="3912">
          <p15:clr>
            <a:srgbClr val="5ACBF0"/>
          </p15:clr>
        </p15:guide>
        <p15:guide id="3" orient="horz" pos="1075">
          <p15:clr>
            <a:srgbClr val="F26B43"/>
          </p15:clr>
        </p15:guide>
        <p15:guide id="4" pos="7329">
          <p15:clr>
            <a:srgbClr val="F26B43"/>
          </p15:clr>
        </p15:guide>
        <p15:guide id="5" pos="345">
          <p15:clr>
            <a:srgbClr val="F26B43"/>
          </p15:clr>
        </p15:guide>
        <p15:guide id="6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https://hashkafa.macam.ac.il/wdwth-2/#contact" TargetMode="External"/><Relationship Id="rId3" Type="http://schemas.openxmlformats.org/officeDocument/2006/relationships/hyperlink" Target="https://hashkafa.macam.ac.il/hhrshmh/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hyperlink" Target="https://www.youtube.com/channel/UCun_H7pXqZ3ChPFbaSlouZQ" TargetMode="External"/><Relationship Id="rId5" Type="http://schemas.openxmlformats.org/officeDocument/2006/relationships/hyperlink" Target="https://mosdot.education.gov.il/institutes/budget/gefen/gefen/?csrt=6509938038025843156" TargetMode="External"/><Relationship Id="rId1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hyperlink" Target="https://youtu.be/60epPgzGLoI?si=2nBluPdrjySrMETi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"/>
          <p:cNvSpPr txBox="1"/>
          <p:nvPr/>
        </p:nvSpPr>
        <p:spPr>
          <a:xfrm>
            <a:off x="3930580" y="4617039"/>
            <a:ext cx="206825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635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Quattrocento Sans"/>
              <a:buChar char="​"/>
            </a:pPr>
            <a:r>
              <a:rPr lang="iw-IL" sz="1200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* תחום דעת עברית: חינוך לשוני</a:t>
            </a:r>
            <a:endParaRPr sz="1200" dirty="0"/>
          </a:p>
        </p:txBody>
      </p:sp>
      <p:sp>
        <p:nvSpPr>
          <p:cNvPr id="216" name="Google Shape;216;p5"/>
          <p:cNvSpPr txBox="1"/>
          <p:nvPr/>
        </p:nvSpPr>
        <p:spPr>
          <a:xfrm>
            <a:off x="9823075" y="4025618"/>
            <a:ext cx="17245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4D8"/>
              </a:buClr>
              <a:buSzPts val="1600"/>
            </a:pPr>
            <a:r>
              <a:rPr lang="iw-IL" sz="1200" b="0" i="0" u="none" strike="noStrike" cap="none" dirty="0">
                <a:solidFill>
                  <a:srgbClr val="70A4D8"/>
                </a:solidFill>
                <a:latin typeface="Assistant"/>
                <a:ea typeface="Assistant"/>
                <a:cs typeface="Assistant"/>
                <a:sym typeface="Assistant"/>
              </a:rPr>
              <a:t>קהילות חוקרות פרקטיקה לשיפור ההוראה והלמידה.</a:t>
            </a:r>
            <a:endParaRPr sz="1200" b="0" i="0" u="none" strike="noStrike" cap="none" dirty="0">
              <a:solidFill>
                <a:srgbClr val="70A4D8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10790365" y="3129276"/>
            <a:ext cx="765510" cy="428625"/>
          </a:xfrm>
          <a:custGeom>
            <a:avLst/>
            <a:gdLst/>
            <a:ahLst/>
            <a:cxnLst/>
            <a:rect l="l" t="t" r="r" b="b"/>
            <a:pathLst>
              <a:path w="428625" h="428625" extrusionOk="0">
                <a:moveTo>
                  <a:pt x="428015" y="0"/>
                </a:moveTo>
                <a:lnTo>
                  <a:pt x="42799" y="0"/>
                </a:lnTo>
                <a:lnTo>
                  <a:pt x="26140" y="3363"/>
                </a:lnTo>
                <a:lnTo>
                  <a:pt x="12536" y="12536"/>
                </a:lnTo>
                <a:lnTo>
                  <a:pt x="3363" y="26140"/>
                </a:lnTo>
                <a:lnTo>
                  <a:pt x="0" y="42799"/>
                </a:lnTo>
                <a:lnTo>
                  <a:pt x="0" y="385216"/>
                </a:lnTo>
                <a:lnTo>
                  <a:pt x="3363" y="401874"/>
                </a:lnTo>
                <a:lnTo>
                  <a:pt x="12536" y="415478"/>
                </a:lnTo>
                <a:lnTo>
                  <a:pt x="26140" y="424651"/>
                </a:lnTo>
                <a:lnTo>
                  <a:pt x="42799" y="428015"/>
                </a:lnTo>
                <a:lnTo>
                  <a:pt x="428015" y="428015"/>
                </a:lnTo>
                <a:lnTo>
                  <a:pt x="428015" y="0"/>
                </a:lnTo>
                <a:close/>
              </a:path>
            </a:pathLst>
          </a:custGeom>
          <a:solidFill>
            <a:srgbClr val="70A4D8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ssistant"/>
              <a:buNone/>
            </a:pPr>
            <a:r>
              <a:rPr lang="iw-IL" sz="12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01</a:t>
            </a:r>
            <a:endParaRPr sz="1200" b="0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9607252" y="3619332"/>
            <a:ext cx="19486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iw-IL" sz="1200" b="1" i="0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השקפה מורות מובילות</a:t>
            </a:r>
            <a:endParaRPr lang="en-US" sz="1200" b="1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iw-IL" sz="1200" b="1" i="0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iw-IL" sz="1200" b="0" i="0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תוכנית הדגל </a:t>
            </a:r>
            <a:endParaRPr sz="1200" b="1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10782159" y="2895279"/>
            <a:ext cx="76551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101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​"/>
            </a:pPr>
            <a:r>
              <a:rPr lang="iw-IL" sz="1200" b="0" i="0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מסלול </a:t>
            </a:r>
            <a:endParaRPr sz="12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2" name="Google Shape;222;p5">
            <a:hlinkClick r:id="" action="ppaction://noaction"/>
          </p:cNvPr>
          <p:cNvSpPr txBox="1"/>
          <p:nvPr/>
        </p:nvSpPr>
        <p:spPr>
          <a:xfrm>
            <a:off x="9441759" y="5700061"/>
            <a:ext cx="19822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​"/>
            </a:pPr>
            <a:r>
              <a:rPr lang="he-IL" sz="1200" b="1" u="none" strike="noStrike" cap="none" dirty="0">
                <a:solidFill>
                  <a:schemeClr val="tx1"/>
                </a:solidFill>
                <a:latin typeface="Assistant"/>
                <a:ea typeface="Assistant"/>
                <a:cs typeface="Assistant"/>
                <a:sym typeface="Assistant"/>
              </a:rPr>
              <a:t>     לפרטים נוספים אודות המסלולים </a:t>
            </a:r>
            <a:r>
              <a:rPr lang="he-IL" sz="1200" b="1" dirty="0">
                <a:solidFill>
                  <a:schemeClr val="accent3"/>
                </a:solid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לחצו כאן</a:t>
            </a:r>
            <a:endParaRPr sz="1200" b="1" u="none" strike="noStrike" cap="none" dirty="0">
              <a:solidFill>
                <a:schemeClr val="accent3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6177229" y="4195483"/>
            <a:ext cx="269759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B4B3"/>
              </a:buClr>
              <a:buSzPts val="1600"/>
            </a:pPr>
            <a:r>
              <a:rPr lang="he-IL" sz="1200" dirty="0">
                <a:solidFill>
                  <a:srgbClr val="48B4B3"/>
                </a:solidFill>
                <a:latin typeface="Assistant"/>
                <a:ea typeface="Assistant"/>
                <a:cs typeface="Assistant"/>
                <a:sym typeface="Assistant"/>
              </a:rPr>
              <a:t>תוכנית שבה כלל המורות </a:t>
            </a:r>
          </a:p>
          <a:p>
            <a: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B4B3"/>
              </a:buClr>
              <a:buSzPts val="1600"/>
            </a:pPr>
            <a:r>
              <a:rPr lang="he-IL" sz="1200" dirty="0">
                <a:solidFill>
                  <a:srgbClr val="48B4B3"/>
                </a:solidFill>
                <a:latin typeface="Assistant"/>
                <a:ea typeface="Assistant"/>
                <a:cs typeface="Assistant"/>
                <a:sym typeface="Assistant"/>
              </a:rPr>
              <a:t>שותפות ללמידה צוותית מתמשכת, </a:t>
            </a:r>
          </a:p>
          <a:p>
            <a: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B4B3"/>
              </a:buClr>
              <a:buSzPts val="1600"/>
            </a:pPr>
            <a:r>
              <a:rPr lang="he-IL" sz="1200" dirty="0">
                <a:solidFill>
                  <a:srgbClr val="48B4B3"/>
                </a:solidFill>
                <a:latin typeface="Assistant"/>
                <a:ea typeface="Assistant"/>
                <a:cs typeface="Assistant"/>
                <a:sym typeface="Assistant"/>
              </a:rPr>
              <a:t>המחוברת לעשייה היום- יומית ולהובלת שינוי בהתאם ליעדי בית הספר</a:t>
            </a:r>
            <a:r>
              <a:rPr lang="iw-IL" sz="1200" b="0" i="0" u="none" strike="noStrike" cap="none" dirty="0">
                <a:solidFill>
                  <a:srgbClr val="48B4B3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sz="1200" b="0" i="0" u="none" strike="noStrike" cap="none" dirty="0">
              <a:solidFill>
                <a:srgbClr val="48B4B3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8098397" y="3151051"/>
            <a:ext cx="765510" cy="428625"/>
          </a:xfrm>
          <a:custGeom>
            <a:avLst/>
            <a:gdLst/>
            <a:ahLst/>
            <a:cxnLst/>
            <a:rect l="l" t="t" r="r" b="b"/>
            <a:pathLst>
              <a:path w="428625" h="428625" extrusionOk="0">
                <a:moveTo>
                  <a:pt x="428015" y="0"/>
                </a:moveTo>
                <a:lnTo>
                  <a:pt x="42799" y="0"/>
                </a:lnTo>
                <a:lnTo>
                  <a:pt x="26140" y="3363"/>
                </a:lnTo>
                <a:lnTo>
                  <a:pt x="12536" y="12536"/>
                </a:lnTo>
                <a:lnTo>
                  <a:pt x="3363" y="26140"/>
                </a:lnTo>
                <a:lnTo>
                  <a:pt x="0" y="42799"/>
                </a:lnTo>
                <a:lnTo>
                  <a:pt x="0" y="385216"/>
                </a:lnTo>
                <a:lnTo>
                  <a:pt x="3363" y="401874"/>
                </a:lnTo>
                <a:lnTo>
                  <a:pt x="12536" y="415478"/>
                </a:lnTo>
                <a:lnTo>
                  <a:pt x="26140" y="424651"/>
                </a:lnTo>
                <a:lnTo>
                  <a:pt x="42799" y="428015"/>
                </a:lnTo>
                <a:lnTo>
                  <a:pt x="428015" y="428015"/>
                </a:lnTo>
                <a:lnTo>
                  <a:pt x="428015" y="0"/>
                </a:lnTo>
                <a:close/>
              </a:path>
            </a:pathLst>
          </a:custGeom>
          <a:solidFill>
            <a:srgbClr val="48B4B3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ssistant"/>
              <a:buNone/>
            </a:pPr>
            <a:r>
              <a:rPr lang="iw-IL" sz="12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02</a:t>
            </a:r>
            <a:endParaRPr sz="1200" b="0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6698659" y="3621477"/>
            <a:ext cx="218451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iw-IL" sz="1200" b="1" i="0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מהלך השקפה בית ספרי </a:t>
            </a:r>
            <a:endParaRPr lang="he-IL" sz="1200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he-IL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מודל גמיש להטמעת למידה צוותית כתרבות ארגונית</a:t>
            </a:r>
            <a:endParaRPr sz="120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8126604" y="2895279"/>
            <a:ext cx="76551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101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​"/>
            </a:pPr>
            <a:r>
              <a:rPr lang="iw-IL" sz="1200" b="0" i="0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מסלול </a:t>
            </a:r>
            <a:endParaRPr sz="12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30" name="Google Shape;230;p5">
            <a:hlinkClick r:id="" action="ppaction://noaction"/>
          </p:cNvPr>
          <p:cNvSpPr txBox="1"/>
          <p:nvPr/>
        </p:nvSpPr>
        <p:spPr>
          <a:xfrm>
            <a:off x="6698659" y="5697683"/>
            <a:ext cx="16022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he-IL" sz="1200" b="1" dirty="0">
                <a:solidFill>
                  <a:schemeClr val="tx1"/>
                </a:solidFill>
                <a:latin typeface="Assistant"/>
                <a:ea typeface="Assistant"/>
                <a:cs typeface="Assistant"/>
                <a:sym typeface="Assistant"/>
              </a:rPr>
              <a:t>איך המהלך פועל במחוז? </a:t>
            </a:r>
          </a:p>
          <a:p>
            <a: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he-IL" sz="1200" b="1" dirty="0">
                <a:solidFill>
                  <a:schemeClr val="tx1"/>
                </a:solidFill>
                <a:latin typeface="Assistant"/>
                <a:ea typeface="Assistant"/>
                <a:cs typeface="Assistant"/>
                <a:sym typeface="Assistant"/>
              </a:rPr>
              <a:t>לצפייה </a:t>
            </a:r>
            <a:r>
              <a:rPr lang="he-IL" sz="1200" b="1" dirty="0">
                <a:solidFill>
                  <a:schemeClr val="accent3"/>
                </a:solid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לחצו כאן </a:t>
            </a:r>
            <a:endParaRPr sz="1200" b="1" strike="noStrike" cap="none" dirty="0">
              <a:solidFill>
                <a:schemeClr val="accent3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231" name="Google Shape;231;p5"/>
          <p:cNvGrpSpPr/>
          <p:nvPr/>
        </p:nvGrpSpPr>
        <p:grpSpPr>
          <a:xfrm>
            <a:off x="3245051" y="2895279"/>
            <a:ext cx="2676060" cy="1923690"/>
            <a:chOff x="2988314" y="1514157"/>
            <a:chExt cx="2676060" cy="1923690"/>
          </a:xfrm>
        </p:grpSpPr>
        <p:sp>
          <p:nvSpPr>
            <p:cNvPr id="232" name="Google Shape;232;p5"/>
            <p:cNvSpPr txBox="1"/>
            <p:nvPr/>
          </p:nvSpPr>
          <p:spPr>
            <a:xfrm>
              <a:off x="3120287" y="2630374"/>
              <a:ext cx="2519463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6874"/>
                </a:buClr>
                <a:buSzPts val="1600"/>
              </a:pPr>
              <a:r>
                <a:rPr lang="iw-IL" sz="1200" b="0" i="0" u="none" strike="noStrike" cap="none" dirty="0">
                  <a:solidFill>
                    <a:srgbClr val="2B6874"/>
                  </a:solidFill>
                  <a:latin typeface="Assistant"/>
                  <a:ea typeface="Assistant"/>
                  <a:cs typeface="Assistant"/>
                  <a:sym typeface="Assistant"/>
                </a:rPr>
                <a:t>ביסוס החוסן המקצועי של המורים בקהילות לשיפור הישגי התלמידים בתחום האורינות הלשונית. </a:t>
              </a:r>
              <a:endParaRPr sz="1200" b="0" i="0" u="none" strike="noStrike" cap="none" dirty="0">
                <a:solidFill>
                  <a:srgbClr val="2B6874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33" name="Google Shape;233;p5"/>
            <p:cNvSpPr txBox="1"/>
            <p:nvPr/>
          </p:nvSpPr>
          <p:spPr>
            <a:xfrm>
              <a:off x="3222298" y="3253181"/>
              <a:ext cx="2422985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</a:pPr>
              <a:endParaRPr sz="1200" b="0" i="0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4863004" y="1781854"/>
              <a:ext cx="765510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 extrusionOk="0">
                  <a:moveTo>
                    <a:pt x="428015" y="0"/>
                  </a:moveTo>
                  <a:lnTo>
                    <a:pt x="42799" y="0"/>
                  </a:lnTo>
                  <a:lnTo>
                    <a:pt x="26140" y="3363"/>
                  </a:lnTo>
                  <a:lnTo>
                    <a:pt x="12536" y="12536"/>
                  </a:lnTo>
                  <a:lnTo>
                    <a:pt x="3363" y="26140"/>
                  </a:lnTo>
                  <a:lnTo>
                    <a:pt x="0" y="42799"/>
                  </a:lnTo>
                  <a:lnTo>
                    <a:pt x="0" y="385216"/>
                  </a:lnTo>
                  <a:lnTo>
                    <a:pt x="3363" y="401874"/>
                  </a:lnTo>
                  <a:lnTo>
                    <a:pt x="12536" y="415478"/>
                  </a:lnTo>
                  <a:lnTo>
                    <a:pt x="26140" y="424651"/>
                  </a:lnTo>
                  <a:lnTo>
                    <a:pt x="42799" y="428015"/>
                  </a:lnTo>
                  <a:lnTo>
                    <a:pt x="428015" y="428015"/>
                  </a:lnTo>
                  <a:lnTo>
                    <a:pt x="428015" y="0"/>
                  </a:lnTo>
                  <a:close/>
                </a:path>
              </a:pathLst>
            </a:custGeom>
            <a:solidFill>
              <a:srgbClr val="2B6874"/>
            </a:solidFill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ssistant"/>
                <a:buNone/>
              </a:pPr>
              <a:r>
                <a:rPr lang="iw-IL" sz="1200" b="0" i="0" u="none" strike="noStrike" cap="none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03</a:t>
              </a:r>
              <a:endParaRPr sz="12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35" name="Google Shape;235;p5"/>
            <p:cNvSpPr txBox="1"/>
            <p:nvPr/>
          </p:nvSpPr>
          <p:spPr>
            <a:xfrm>
              <a:off x="4898864" y="1514157"/>
              <a:ext cx="7655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-10160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Quattrocento Sans"/>
                <a:buChar char="​"/>
              </a:pPr>
              <a:r>
                <a:rPr lang="iw-IL" sz="1200" b="0" i="0" u="none" strike="noStrike" cap="non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מסלול </a:t>
              </a:r>
              <a:endPara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36" name="Google Shape;236;p5"/>
            <p:cNvSpPr txBox="1"/>
            <p:nvPr/>
          </p:nvSpPr>
          <p:spPr>
            <a:xfrm>
              <a:off x="2988314" y="2235863"/>
              <a:ext cx="26491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iw-IL" sz="1200" b="1" i="0" u="none" strike="noStrike" cap="none" dirty="0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השקפה ממוקדת שפה* </a:t>
              </a:r>
              <a:br>
                <a:rPr lang="iw-IL" sz="1200" b="1" i="0" u="none" strike="noStrike" cap="none" dirty="0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</a:br>
              <a:r>
                <a:rPr lang="iw-IL" sz="1200" b="0" i="0" u="none" strike="noStrike" cap="none" dirty="0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תוכנית ייחודית לבתי הספר היסודיים </a:t>
              </a:r>
              <a:endParaRPr sz="1200" b="1" i="0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239" name="Google Shape;239;p5">
            <a:hlinkClick r:id="" action="ppaction://noaction"/>
          </p:cNvPr>
          <p:cNvSpPr txBox="1"/>
          <p:nvPr/>
        </p:nvSpPr>
        <p:spPr>
          <a:xfrm>
            <a:off x="3723702" y="5697683"/>
            <a:ext cx="21048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rtl="1">
              <a:buSzPts val="1800"/>
            </a:pPr>
            <a:r>
              <a:rPr lang="iw-IL" sz="1200" b="1" i="0" u="none" strike="noStrike" cap="none" dirty="0">
                <a:solidFill>
                  <a:schemeClr val="tx1"/>
                </a:solidFill>
                <a:latin typeface="Assistant"/>
                <a:ea typeface="Assistant"/>
                <a:cs typeface="Assistant"/>
                <a:sym typeface="Assistant"/>
              </a:rPr>
              <a:t>צרו קשר עם </a:t>
            </a:r>
            <a:endParaRPr lang="he-IL" sz="1200" b="1" i="0" u="none" strike="noStrike" cap="none" dirty="0">
              <a:solidFill>
                <a:schemeClr val="tx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ctr" rtl="1">
              <a:buSzPts val="1800"/>
            </a:pPr>
            <a:r>
              <a:rPr lang="iw-IL" sz="1200" b="1" i="0" u="none" strike="noStrike" cap="none" dirty="0">
                <a:solidFill>
                  <a:schemeClr val="tx1"/>
                </a:solidFill>
                <a:latin typeface="Assistant"/>
                <a:ea typeface="Assistant"/>
                <a:cs typeface="Assistant"/>
                <a:sym typeface="Assistant"/>
              </a:rPr>
              <a:t>המדריכה המחוזית</a:t>
            </a:r>
            <a:r>
              <a:rPr lang="he-IL" sz="1200" b="1" i="0" u="none" strike="noStrike" cap="none" dirty="0">
                <a:solidFill>
                  <a:schemeClr val="tx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lang="en-US" sz="1200" b="1" i="0" u="none" strike="noStrike" cap="none" dirty="0">
              <a:solidFill>
                <a:schemeClr val="tx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ctr" rtl="1">
              <a:buSzPts val="1800"/>
            </a:pPr>
            <a:r>
              <a:rPr lang="he-IL" sz="1200" b="1" i="0" u="none" strike="noStrike" cap="none" dirty="0">
                <a:solidFill>
                  <a:schemeClr val="tx1"/>
                </a:solidFill>
                <a:latin typeface="Assistant"/>
                <a:ea typeface="Assistant"/>
                <a:cs typeface="Assistant"/>
                <a:sym typeface="Assistant"/>
              </a:rPr>
              <a:t>נורית אבידן שרביט 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Assistant"/>
                <a:ea typeface="Assistant"/>
                <a:cs typeface="Assistant"/>
                <a:sym typeface="Assistant"/>
              </a:rPr>
              <a:t>nuritavidav100@gmail.com</a:t>
            </a:r>
            <a:endParaRPr lang="iw-IL" sz="1200" b="1" i="0" u="none" strike="noStrike" cap="none" dirty="0">
              <a:solidFill>
                <a:schemeClr val="tx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240" name="Google Shape;240;p5"/>
          <p:cNvGrpSpPr/>
          <p:nvPr/>
        </p:nvGrpSpPr>
        <p:grpSpPr>
          <a:xfrm>
            <a:off x="510833" y="2895279"/>
            <a:ext cx="2373367" cy="1892313"/>
            <a:chOff x="305425" y="1514157"/>
            <a:chExt cx="2373367" cy="1892313"/>
          </a:xfrm>
        </p:grpSpPr>
        <p:sp>
          <p:nvSpPr>
            <p:cNvPr id="241" name="Google Shape;241;p5"/>
            <p:cNvSpPr txBox="1"/>
            <p:nvPr/>
          </p:nvSpPr>
          <p:spPr>
            <a:xfrm>
              <a:off x="415120" y="2627617"/>
              <a:ext cx="2263672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A9916"/>
                </a:buClr>
                <a:buSzPts val="1600"/>
              </a:pPr>
              <a:r>
                <a:rPr lang="iw-IL" sz="1200" b="0" i="0" u="none" strike="noStrike" cap="none" dirty="0">
                  <a:solidFill>
                    <a:srgbClr val="EA9916"/>
                  </a:solidFill>
                  <a:latin typeface="Assistant"/>
                  <a:ea typeface="Assistant"/>
                  <a:cs typeface="Assistant"/>
                  <a:sym typeface="Assistant"/>
                </a:rPr>
                <a:t>הגברת המסוגלות של צוותי חינוך להכללה וליצירת מרחב אמפתי בקהילות חוקרות. </a:t>
              </a:r>
              <a:endParaRPr sz="1200" b="0" i="0" u="none" strike="noStrike" cap="none" dirty="0">
                <a:solidFill>
                  <a:srgbClr val="EA9916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42" name="Google Shape;242;p5"/>
            <p:cNvSpPr txBox="1"/>
            <p:nvPr/>
          </p:nvSpPr>
          <p:spPr>
            <a:xfrm>
              <a:off x="415120" y="3221804"/>
              <a:ext cx="22636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</a:pPr>
              <a:endParaRPr lang="he-IL" sz="1200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1888687" y="1781854"/>
              <a:ext cx="765510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 extrusionOk="0">
                  <a:moveTo>
                    <a:pt x="428015" y="0"/>
                  </a:moveTo>
                  <a:lnTo>
                    <a:pt x="42799" y="0"/>
                  </a:lnTo>
                  <a:lnTo>
                    <a:pt x="26140" y="3363"/>
                  </a:lnTo>
                  <a:lnTo>
                    <a:pt x="12536" y="12536"/>
                  </a:lnTo>
                  <a:lnTo>
                    <a:pt x="3363" y="26140"/>
                  </a:lnTo>
                  <a:lnTo>
                    <a:pt x="0" y="42799"/>
                  </a:lnTo>
                  <a:lnTo>
                    <a:pt x="0" y="385216"/>
                  </a:lnTo>
                  <a:lnTo>
                    <a:pt x="3363" y="401874"/>
                  </a:lnTo>
                  <a:lnTo>
                    <a:pt x="12536" y="415478"/>
                  </a:lnTo>
                  <a:lnTo>
                    <a:pt x="26140" y="424651"/>
                  </a:lnTo>
                  <a:lnTo>
                    <a:pt x="42799" y="428015"/>
                  </a:lnTo>
                  <a:lnTo>
                    <a:pt x="428015" y="428015"/>
                  </a:lnTo>
                  <a:lnTo>
                    <a:pt x="428015" y="0"/>
                  </a:lnTo>
                  <a:close/>
                </a:path>
              </a:pathLst>
            </a:custGeom>
            <a:solidFill>
              <a:srgbClr val="EA9916"/>
            </a:solidFill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ssistant"/>
                <a:buNone/>
              </a:pPr>
              <a:r>
                <a:rPr lang="iw-IL" sz="1200" b="0" i="0" u="none" strike="noStrike" cap="none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04</a:t>
              </a:r>
              <a:endParaRPr sz="12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44" name="Google Shape;244;p5"/>
            <p:cNvSpPr txBox="1"/>
            <p:nvPr/>
          </p:nvSpPr>
          <p:spPr>
            <a:xfrm>
              <a:off x="1888687" y="1514157"/>
              <a:ext cx="7655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-10160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Quattrocento Sans"/>
                <a:buChar char="​"/>
              </a:pPr>
              <a:r>
                <a:rPr lang="iw-IL" sz="1200" b="0" i="0" u="none" strike="noStrike" cap="non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מסלול </a:t>
              </a:r>
              <a:endPara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45" name="Google Shape;245;p5"/>
            <p:cNvSpPr txBox="1"/>
            <p:nvPr/>
          </p:nvSpPr>
          <p:spPr>
            <a:xfrm>
              <a:off x="305425" y="2235863"/>
              <a:ext cx="23487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iw-IL" sz="1200" b="1" i="0" u="none" strike="noStrike" cap="none" dirty="0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השקפה מכילים את המכילים</a:t>
              </a:r>
              <a:br>
                <a:rPr lang="iw-IL" sz="1200" b="1" i="0" u="none" strike="noStrike" cap="none" dirty="0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</a:br>
              <a:r>
                <a:rPr lang="iw-IL" sz="1200" b="0" i="0" u="none" strike="noStrike" cap="none" dirty="0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תוכנית לחינוך מכליל </a:t>
              </a:r>
              <a:endParaRPr sz="1200" b="1" i="0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248" name="Google Shape;248;p5">
            <a:hlinkClick r:id="" action="ppaction://noaction"/>
          </p:cNvPr>
          <p:cNvSpPr txBox="1"/>
          <p:nvPr/>
        </p:nvSpPr>
        <p:spPr>
          <a:xfrm>
            <a:off x="1323163" y="5696416"/>
            <a:ext cx="14847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-889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​"/>
            </a:pPr>
            <a:r>
              <a:rPr lang="he-IL" sz="1200" b="1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להרשמה במערכת   </a:t>
            </a:r>
            <a:r>
              <a:rPr lang="he-IL" sz="1200" b="1" u="none" strike="noStrike" cap="none" dirty="0" err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הגפ"ן</a:t>
            </a:r>
            <a:r>
              <a:rPr lang="he-IL" sz="1200" b="1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200" b="1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5"/>
              </a:rPr>
              <a:t>לחצו </a:t>
            </a:r>
            <a:r>
              <a:rPr lang="he-IL" sz="1200" b="1" u="none" strike="noStrike" cap="none" dirty="0">
                <a:solidFill>
                  <a:schemeClr val="accent3"/>
                </a:solidFill>
                <a:latin typeface="Assistant"/>
                <a:ea typeface="Assistant"/>
                <a:cs typeface="Assistant"/>
                <a:sym typeface="Assistant"/>
                <a:hlinkClick r:id="rId5"/>
              </a:rPr>
              <a:t>כאן</a:t>
            </a:r>
            <a:endParaRPr sz="1200" b="1" u="none" strike="noStrike" cap="none" dirty="0">
              <a:solidFill>
                <a:schemeClr val="accent3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cxnSp>
        <p:nvCxnSpPr>
          <p:cNvPr id="249" name="Google Shape;249;p5"/>
          <p:cNvCxnSpPr>
            <a:cxnSpLocks/>
          </p:cNvCxnSpPr>
          <p:nvPr/>
        </p:nvCxnSpPr>
        <p:spPr>
          <a:xfrm>
            <a:off x="9002283" y="2752165"/>
            <a:ext cx="0" cy="218198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0" name="Google Shape;250;p5"/>
          <p:cNvCxnSpPr>
            <a:cxnSpLocks/>
          </p:cNvCxnSpPr>
          <p:nvPr/>
        </p:nvCxnSpPr>
        <p:spPr>
          <a:xfrm flipH="1">
            <a:off x="5962127" y="2752165"/>
            <a:ext cx="5672" cy="20668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1" name="Google Shape;251;p5"/>
          <p:cNvCxnSpPr>
            <a:cxnSpLocks/>
          </p:cNvCxnSpPr>
          <p:nvPr/>
        </p:nvCxnSpPr>
        <p:spPr>
          <a:xfrm>
            <a:off x="2991881" y="2752165"/>
            <a:ext cx="2488" cy="19744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" name="Google Shape;206;p4">
            <a:extLst>
              <a:ext uri="{FF2B5EF4-FFF2-40B4-BE49-F238E27FC236}">
                <a16:creationId xmlns:a16="http://schemas.microsoft.com/office/drawing/2014/main" id="{E87C5EA6-191E-28DA-9F4F-1F1F1C02CD97}"/>
              </a:ext>
            </a:extLst>
          </p:cNvPr>
          <p:cNvGrpSpPr/>
          <p:nvPr/>
        </p:nvGrpSpPr>
        <p:grpSpPr>
          <a:xfrm>
            <a:off x="4897925" y="199175"/>
            <a:ext cx="5756956" cy="438875"/>
            <a:chOff x="6876801" y="195076"/>
            <a:chExt cx="4801677" cy="438875"/>
          </a:xfrm>
        </p:grpSpPr>
        <p:sp>
          <p:nvSpPr>
            <p:cNvPr id="3" name="Google Shape;207;p4">
              <a:extLst>
                <a:ext uri="{FF2B5EF4-FFF2-40B4-BE49-F238E27FC236}">
                  <a16:creationId xmlns:a16="http://schemas.microsoft.com/office/drawing/2014/main" id="{6956126D-9B7A-2EFB-D361-EA3755C29F5C}"/>
                </a:ext>
              </a:extLst>
            </p:cNvPr>
            <p:cNvSpPr/>
            <p:nvPr/>
          </p:nvSpPr>
          <p:spPr>
            <a:xfrm>
              <a:off x="6876801" y="195076"/>
              <a:ext cx="4801677" cy="323751"/>
            </a:xfrm>
            <a:custGeom>
              <a:avLst/>
              <a:gdLst/>
              <a:ahLst/>
              <a:cxnLst/>
              <a:rect l="l" t="t" r="r" b="b"/>
              <a:pathLst>
                <a:path w="4801677" h="323751" extrusionOk="0">
                  <a:moveTo>
                    <a:pt x="0" y="0"/>
                  </a:moveTo>
                  <a:lnTo>
                    <a:pt x="4707667" y="0"/>
                  </a:lnTo>
                  <a:cubicBezTo>
                    <a:pt x="4759587" y="0"/>
                    <a:pt x="4801677" y="42090"/>
                    <a:pt x="4801677" y="94010"/>
                  </a:cubicBezTo>
                  <a:lnTo>
                    <a:pt x="4801677" y="323751"/>
                  </a:lnTo>
                  <a:lnTo>
                    <a:pt x="0" y="323751"/>
                  </a:lnTo>
                  <a:close/>
                </a:path>
              </a:pathLst>
            </a:custGeom>
            <a:solidFill>
              <a:srgbClr val="DEEC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208;p4">
              <a:extLst>
                <a:ext uri="{FF2B5EF4-FFF2-40B4-BE49-F238E27FC236}">
                  <a16:creationId xmlns:a16="http://schemas.microsoft.com/office/drawing/2014/main" id="{26347C7A-B0EE-E5E3-10F0-E34D630534F1}"/>
                </a:ext>
              </a:extLst>
            </p:cNvPr>
            <p:cNvSpPr txBox="1"/>
            <p:nvPr/>
          </p:nvSpPr>
          <p:spPr>
            <a:xfrm>
              <a:off x="7116142" y="233841"/>
              <a:ext cx="42892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r" rtl="1"/>
              <a:r>
                <a:rPr lang="he-IL" i="0" u="none" strike="noStrike" cap="none" dirty="0">
                  <a:solidFill>
                    <a:schemeClr val="tx1"/>
                  </a:solidFill>
                  <a:latin typeface="Assistant"/>
                  <a:ea typeface="Assistant"/>
                  <a:cs typeface="Assistant"/>
                  <a:sym typeface="Assistant"/>
                </a:rPr>
                <a:t>מהלך השקפה בסל </a:t>
              </a:r>
              <a:r>
                <a:rPr lang="he-IL" i="0" u="none" strike="noStrike" cap="none" dirty="0" err="1">
                  <a:solidFill>
                    <a:schemeClr val="tx1"/>
                  </a:solidFill>
                  <a:latin typeface="Assistant"/>
                  <a:ea typeface="Assistant"/>
                  <a:cs typeface="Assistant"/>
                  <a:sym typeface="Assistant"/>
                </a:rPr>
                <a:t>גפ"ן</a:t>
              </a:r>
              <a:r>
                <a:rPr lang="he-IL" i="0" u="none" strike="noStrike" cap="none" dirty="0">
                  <a:solidFill>
                    <a:schemeClr val="tx1"/>
                  </a:solidFill>
                  <a:latin typeface="Assistant"/>
                  <a:ea typeface="Assistant"/>
                  <a:cs typeface="Assistant"/>
                  <a:sym typeface="Assistant"/>
                </a:rPr>
                <a:t> |מחוז </a:t>
              </a:r>
              <a:r>
                <a:rPr lang="he-IL" i="0" u="none" strike="noStrike" cap="none" dirty="0" err="1">
                  <a:solidFill>
                    <a:schemeClr val="tx1"/>
                  </a:solidFill>
                  <a:latin typeface="Assistant"/>
                  <a:ea typeface="Assistant"/>
                  <a:cs typeface="Assistant"/>
                  <a:sym typeface="Assistant"/>
                </a:rPr>
                <a:t>מנח"י</a:t>
              </a:r>
              <a:r>
                <a:rPr lang="he-IL" i="0" u="none" strike="noStrike" cap="none" dirty="0">
                  <a:solidFill>
                    <a:schemeClr val="tx1"/>
                  </a:solidFill>
                  <a:latin typeface="Assistant"/>
                  <a:ea typeface="Assistant"/>
                  <a:cs typeface="Assistant"/>
                  <a:sym typeface="Assistant"/>
                </a:rPr>
                <a:t> | </a:t>
              </a:r>
              <a:r>
                <a:rPr lang="he-IL" dirty="0">
                  <a:solidFill>
                    <a:schemeClr val="tx1"/>
                  </a:solidFill>
                  <a:latin typeface="Assistant"/>
                  <a:ea typeface="Assistant"/>
                  <a:cs typeface="Assistant"/>
                  <a:sym typeface="Assistant"/>
                </a:rPr>
                <a:t>מאי 26</a:t>
              </a:r>
              <a:r>
                <a:rPr lang="he-IL" i="0" u="none" strike="noStrike" cap="none" dirty="0">
                  <a:solidFill>
                    <a:schemeClr val="tx1"/>
                  </a:solidFill>
                  <a:latin typeface="Assistant"/>
                  <a:ea typeface="Assistant"/>
                  <a:cs typeface="Assistant"/>
                  <a:sym typeface="Assistant"/>
                </a:rPr>
                <a:t> </a:t>
              </a:r>
              <a:endParaRPr lang="he-IL" dirty="0">
                <a:solidFill>
                  <a:schemeClr val="tx1"/>
                </a:solidFill>
              </a:endParaRPr>
            </a:p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6" name="כותרת 5">
            <a:extLst>
              <a:ext uri="{FF2B5EF4-FFF2-40B4-BE49-F238E27FC236}">
                <a16:creationId xmlns:a16="http://schemas.microsoft.com/office/drawing/2014/main" id="{DE1C89DF-1103-8B14-8D25-649A57277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23" y="2492639"/>
            <a:ext cx="10861744" cy="200376"/>
          </a:xfrm>
        </p:spPr>
        <p:txBody>
          <a:bodyPr/>
          <a:lstStyle/>
          <a:p>
            <a:r>
              <a:rPr lang="he-IL" sz="1400" dirty="0"/>
              <a:t>מהלך השקפה מציע לך השנה ארבעה מסלולים שונים</a:t>
            </a:r>
          </a:p>
        </p:txBody>
      </p:sp>
      <p:sp>
        <p:nvSpPr>
          <p:cNvPr id="5" name="Google Shape;72;p2">
            <a:extLst>
              <a:ext uri="{FF2B5EF4-FFF2-40B4-BE49-F238E27FC236}">
                <a16:creationId xmlns:a16="http://schemas.microsoft.com/office/drawing/2014/main" id="{2C4330C4-7DC4-460A-ACE6-492C6DA89485}"/>
              </a:ext>
            </a:extLst>
          </p:cNvPr>
          <p:cNvSpPr txBox="1"/>
          <p:nvPr/>
        </p:nvSpPr>
        <p:spPr>
          <a:xfrm>
            <a:off x="3324600" y="637956"/>
            <a:ext cx="73365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ssistant"/>
              <a:buNone/>
            </a:pPr>
            <a:r>
              <a:rPr lang="he-IL" b="1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מהלך השקפה </a:t>
            </a:r>
            <a:r>
              <a:rPr lang="iw-IL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הוא מהלך ארצי מקיף לשיפור </a:t>
            </a:r>
            <a:r>
              <a:rPr lang="iw-IL" b="1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איכות ההוראה והלמידה</a:t>
            </a:r>
            <a:r>
              <a:rPr lang="iw-IL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endParaRPr lang="he-IL" b="0" i="0" u="none" strike="noStrike" cap="none" dirty="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ssistant"/>
              <a:buNone/>
            </a:pPr>
            <a:r>
              <a:rPr lang="iw-IL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באמצעות יצירת </a:t>
            </a:r>
            <a:r>
              <a:rPr lang="iw-IL" b="1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תרבות למידה</a:t>
            </a:r>
            <a:r>
              <a:rPr lang="he-IL" b="1" dirty="0"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iw-IL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מיטבית של מורות החוקרות את </a:t>
            </a:r>
            <a:r>
              <a:rPr lang="iw-IL" b="1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פרקטיקות ההוראה</a:t>
            </a:r>
            <a:r>
              <a:rPr lang="iw-IL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שלהן</a:t>
            </a:r>
            <a:r>
              <a:rPr lang="he-IL" b="0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b="0" i="0" u="none" strike="noStrike" cap="none" dirty="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10" name="Google Shape;95;p3">
            <a:extLst>
              <a:ext uri="{FF2B5EF4-FFF2-40B4-BE49-F238E27FC236}">
                <a16:creationId xmlns:a16="http://schemas.microsoft.com/office/drawing/2014/main" id="{B880FAE4-81E2-4868-920F-BD72F4044EEE}"/>
              </a:ext>
            </a:extLst>
          </p:cNvPr>
          <p:cNvGrpSpPr/>
          <p:nvPr/>
        </p:nvGrpSpPr>
        <p:grpSpPr>
          <a:xfrm>
            <a:off x="9277397" y="1928626"/>
            <a:ext cx="397032" cy="403379"/>
            <a:chOff x="7510476" y="1638465"/>
            <a:chExt cx="961359" cy="961358"/>
          </a:xfrm>
        </p:grpSpPr>
        <p:sp>
          <p:nvSpPr>
            <p:cNvPr id="11" name="Google Shape;97;p3">
              <a:extLst>
                <a:ext uri="{FF2B5EF4-FFF2-40B4-BE49-F238E27FC236}">
                  <a16:creationId xmlns:a16="http://schemas.microsoft.com/office/drawing/2014/main" id="{77072A38-B305-5C9E-4F63-D68F53855353}"/>
                </a:ext>
              </a:extLst>
            </p:cNvPr>
            <p:cNvSpPr/>
            <p:nvPr/>
          </p:nvSpPr>
          <p:spPr>
            <a:xfrm>
              <a:off x="7510476" y="1638465"/>
              <a:ext cx="961359" cy="961358"/>
            </a:xfrm>
            <a:prstGeom prst="ellipse">
              <a:avLst/>
            </a:prstGeom>
            <a:solidFill>
              <a:srgbClr val="70A4D8"/>
            </a:solidFill>
            <a:ln>
              <a:noFill/>
            </a:ln>
          </p:spPr>
          <p:txBody>
            <a:bodyPr spcFirstLastPara="1" wrap="square" lIns="89600" tIns="44800" rIns="89600" bIns="44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" name="Google Shape;96;p3">
              <a:extLst>
                <a:ext uri="{FF2B5EF4-FFF2-40B4-BE49-F238E27FC236}">
                  <a16:creationId xmlns:a16="http://schemas.microsoft.com/office/drawing/2014/main" id="{B53D5765-71D8-5929-0EBF-21300FFDBAF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692428" y="1820416"/>
              <a:ext cx="597456" cy="5974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79;p3">
            <a:extLst>
              <a:ext uri="{FF2B5EF4-FFF2-40B4-BE49-F238E27FC236}">
                <a16:creationId xmlns:a16="http://schemas.microsoft.com/office/drawing/2014/main" id="{FD4F4E12-7A07-DCAE-6F37-5E845859BF80}"/>
              </a:ext>
            </a:extLst>
          </p:cNvPr>
          <p:cNvSpPr txBox="1">
            <a:spLocks/>
          </p:cNvSpPr>
          <p:nvPr/>
        </p:nvSpPr>
        <p:spPr>
          <a:xfrm>
            <a:off x="7279341" y="1609733"/>
            <a:ext cx="4330985" cy="200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0A4D8"/>
              </a:buClr>
              <a:buSzPts val="2800"/>
              <a:buFont typeface="Assistant"/>
              <a:buNone/>
              <a:defRPr sz="2800" b="1" i="0" u="none" strike="noStrike" cap="none">
                <a:solidFill>
                  <a:srgbClr val="70A4D8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w-IL" sz="1400" dirty="0"/>
              <a:t>למה קהילות השקפה הן הדרך הטובה ביותר לפיתוח מקצוע</a:t>
            </a:r>
            <a:r>
              <a:rPr lang="he-IL" sz="1400" dirty="0"/>
              <a:t>י?</a:t>
            </a:r>
            <a:endParaRPr lang="iw-IL" sz="1400" dirty="0"/>
          </a:p>
        </p:txBody>
      </p:sp>
      <p:sp>
        <p:nvSpPr>
          <p:cNvPr id="14" name="Google Shape;82;p3">
            <a:extLst>
              <a:ext uri="{FF2B5EF4-FFF2-40B4-BE49-F238E27FC236}">
                <a16:creationId xmlns:a16="http://schemas.microsoft.com/office/drawing/2014/main" id="{0CA3F7D0-BC44-83DB-36CF-0739C8E348AD}"/>
              </a:ext>
            </a:extLst>
          </p:cNvPr>
          <p:cNvSpPr txBox="1"/>
          <p:nvPr/>
        </p:nvSpPr>
        <p:spPr>
          <a:xfrm>
            <a:off x="9881740" y="1962919"/>
            <a:ext cx="11022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iw-IL" sz="1200" b="1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התאמה למטרות בית הספר </a:t>
            </a:r>
            <a:endParaRPr sz="1200" dirty="0"/>
          </a:p>
        </p:txBody>
      </p:sp>
      <p:grpSp>
        <p:nvGrpSpPr>
          <p:cNvPr id="15" name="Google Shape;83;p3">
            <a:extLst>
              <a:ext uri="{FF2B5EF4-FFF2-40B4-BE49-F238E27FC236}">
                <a16:creationId xmlns:a16="http://schemas.microsoft.com/office/drawing/2014/main" id="{44BBE7A2-FE70-5D09-E7F4-5AF1DFFB40DE}"/>
              </a:ext>
            </a:extLst>
          </p:cNvPr>
          <p:cNvGrpSpPr/>
          <p:nvPr/>
        </p:nvGrpSpPr>
        <p:grpSpPr>
          <a:xfrm>
            <a:off x="11059127" y="1921501"/>
            <a:ext cx="397032" cy="403379"/>
            <a:chOff x="10444069" y="1638464"/>
            <a:chExt cx="961359" cy="961359"/>
          </a:xfrm>
        </p:grpSpPr>
        <p:sp>
          <p:nvSpPr>
            <p:cNvPr id="16" name="Google Shape;85;p3">
              <a:extLst>
                <a:ext uri="{FF2B5EF4-FFF2-40B4-BE49-F238E27FC236}">
                  <a16:creationId xmlns:a16="http://schemas.microsoft.com/office/drawing/2014/main" id="{8E25219C-CEBC-14C9-8F21-F3B48ADBA181}"/>
                </a:ext>
              </a:extLst>
            </p:cNvPr>
            <p:cNvSpPr/>
            <p:nvPr/>
          </p:nvSpPr>
          <p:spPr>
            <a:xfrm>
              <a:off x="10444069" y="1638464"/>
              <a:ext cx="961359" cy="961359"/>
            </a:xfrm>
            <a:prstGeom prst="ellipse">
              <a:avLst/>
            </a:prstGeom>
            <a:solidFill>
              <a:srgbClr val="70A4D8"/>
            </a:solidFill>
            <a:ln>
              <a:noFill/>
            </a:ln>
          </p:spPr>
          <p:txBody>
            <a:bodyPr spcFirstLastPara="1" wrap="square" lIns="89600" tIns="44800" rIns="89600" bIns="44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84;p3">
              <a:extLst>
                <a:ext uri="{FF2B5EF4-FFF2-40B4-BE49-F238E27FC236}">
                  <a16:creationId xmlns:a16="http://schemas.microsoft.com/office/drawing/2014/main" id="{768403D0-D47E-2346-7CCD-96167E60A94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626021" y="1820415"/>
              <a:ext cx="597456" cy="5974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Google Shape;87;p3">
            <a:extLst>
              <a:ext uri="{FF2B5EF4-FFF2-40B4-BE49-F238E27FC236}">
                <a16:creationId xmlns:a16="http://schemas.microsoft.com/office/drawing/2014/main" id="{91ADFC03-A50A-AB3B-EE36-566E4ADAE0FC}"/>
              </a:ext>
            </a:extLst>
          </p:cNvPr>
          <p:cNvSpPr txBox="1"/>
          <p:nvPr/>
        </p:nvSpPr>
        <p:spPr>
          <a:xfrm>
            <a:off x="8424767" y="1973227"/>
            <a:ext cx="6972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iw-IL" sz="1200" b="1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הטמעת תובנות</a:t>
            </a:r>
            <a:endParaRPr sz="1200" dirty="0"/>
          </a:p>
        </p:txBody>
      </p:sp>
      <p:sp>
        <p:nvSpPr>
          <p:cNvPr id="19" name="Google Shape;89;p3">
            <a:extLst>
              <a:ext uri="{FF2B5EF4-FFF2-40B4-BE49-F238E27FC236}">
                <a16:creationId xmlns:a16="http://schemas.microsoft.com/office/drawing/2014/main" id="{0D235216-1575-92F2-B9EC-A3D98593EFF0}"/>
              </a:ext>
            </a:extLst>
          </p:cNvPr>
          <p:cNvSpPr txBox="1"/>
          <p:nvPr/>
        </p:nvSpPr>
        <p:spPr>
          <a:xfrm>
            <a:off x="6532096" y="1973227"/>
            <a:ext cx="10694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iw-IL" sz="1200" b="1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שיפור טכניקות הוראה </a:t>
            </a:r>
            <a:endParaRPr sz="1200" dirty="0"/>
          </a:p>
        </p:txBody>
      </p:sp>
      <p:grpSp>
        <p:nvGrpSpPr>
          <p:cNvPr id="20" name="Google Shape;90;p3">
            <a:extLst>
              <a:ext uri="{FF2B5EF4-FFF2-40B4-BE49-F238E27FC236}">
                <a16:creationId xmlns:a16="http://schemas.microsoft.com/office/drawing/2014/main" id="{3F739CD6-A3FC-EB10-928E-A55190C6E0E4}"/>
              </a:ext>
            </a:extLst>
          </p:cNvPr>
          <p:cNvGrpSpPr/>
          <p:nvPr/>
        </p:nvGrpSpPr>
        <p:grpSpPr>
          <a:xfrm>
            <a:off x="7673826" y="1939180"/>
            <a:ext cx="397032" cy="403379"/>
            <a:chOff x="5152344" y="1638464"/>
            <a:chExt cx="961359" cy="961359"/>
          </a:xfrm>
        </p:grpSpPr>
        <p:sp>
          <p:nvSpPr>
            <p:cNvPr id="21" name="Google Shape;92;p3">
              <a:extLst>
                <a:ext uri="{FF2B5EF4-FFF2-40B4-BE49-F238E27FC236}">
                  <a16:creationId xmlns:a16="http://schemas.microsoft.com/office/drawing/2014/main" id="{CDBCCF50-301D-747D-FEB8-4D956B242CBA}"/>
                </a:ext>
              </a:extLst>
            </p:cNvPr>
            <p:cNvSpPr/>
            <p:nvPr/>
          </p:nvSpPr>
          <p:spPr>
            <a:xfrm>
              <a:off x="5152344" y="1638464"/>
              <a:ext cx="961359" cy="961359"/>
            </a:xfrm>
            <a:prstGeom prst="ellipse">
              <a:avLst/>
            </a:prstGeom>
            <a:solidFill>
              <a:srgbClr val="70A4D8"/>
            </a:solidFill>
            <a:ln>
              <a:noFill/>
            </a:ln>
          </p:spPr>
          <p:txBody>
            <a:bodyPr spcFirstLastPara="1" wrap="square" lIns="89600" tIns="44800" rIns="89600" bIns="44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91;p3">
              <a:extLst>
                <a:ext uri="{FF2B5EF4-FFF2-40B4-BE49-F238E27FC236}">
                  <a16:creationId xmlns:a16="http://schemas.microsoft.com/office/drawing/2014/main" id="{162A7B6B-85F2-0F15-0285-DF83658A7991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334295" y="1820415"/>
              <a:ext cx="597456" cy="5974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Google Shape;94;p3">
            <a:extLst>
              <a:ext uri="{FF2B5EF4-FFF2-40B4-BE49-F238E27FC236}">
                <a16:creationId xmlns:a16="http://schemas.microsoft.com/office/drawing/2014/main" id="{4533BF61-8DAA-833E-D615-1DBF9B5488B6}"/>
              </a:ext>
            </a:extLst>
          </p:cNvPr>
          <p:cNvSpPr txBox="1"/>
          <p:nvPr/>
        </p:nvSpPr>
        <p:spPr>
          <a:xfrm>
            <a:off x="4507349" y="1973643"/>
            <a:ext cx="13212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iw-IL" sz="1200" b="1" i="0" u="none" strike="noStrike" cap="none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הזדמנות להתבוננות רפלקטיבית </a:t>
            </a:r>
            <a:endParaRPr sz="1200" dirty="0"/>
          </a:p>
        </p:txBody>
      </p:sp>
      <p:grpSp>
        <p:nvGrpSpPr>
          <p:cNvPr id="24" name="Google Shape;101;p3">
            <a:extLst>
              <a:ext uri="{FF2B5EF4-FFF2-40B4-BE49-F238E27FC236}">
                <a16:creationId xmlns:a16="http://schemas.microsoft.com/office/drawing/2014/main" id="{EFB238C4-8AE2-0B50-5B79-3A37FA1A882D}"/>
              </a:ext>
            </a:extLst>
          </p:cNvPr>
          <p:cNvGrpSpPr/>
          <p:nvPr/>
        </p:nvGrpSpPr>
        <p:grpSpPr>
          <a:xfrm>
            <a:off x="6090612" y="1918561"/>
            <a:ext cx="397032" cy="403379"/>
            <a:chOff x="2482303" y="1638464"/>
            <a:chExt cx="961359" cy="961359"/>
          </a:xfrm>
        </p:grpSpPr>
        <p:sp>
          <p:nvSpPr>
            <p:cNvPr id="25" name="Google Shape;103;p3">
              <a:extLst>
                <a:ext uri="{FF2B5EF4-FFF2-40B4-BE49-F238E27FC236}">
                  <a16:creationId xmlns:a16="http://schemas.microsoft.com/office/drawing/2014/main" id="{8FD7DB7F-9E4C-9F0F-72FC-E0BBD28E6C26}"/>
                </a:ext>
              </a:extLst>
            </p:cNvPr>
            <p:cNvSpPr/>
            <p:nvPr/>
          </p:nvSpPr>
          <p:spPr>
            <a:xfrm>
              <a:off x="2482303" y="1638464"/>
              <a:ext cx="961359" cy="961359"/>
            </a:xfrm>
            <a:prstGeom prst="ellipse">
              <a:avLst/>
            </a:prstGeom>
            <a:solidFill>
              <a:srgbClr val="70A4D8"/>
            </a:solidFill>
            <a:ln>
              <a:noFill/>
            </a:ln>
          </p:spPr>
          <p:txBody>
            <a:bodyPr spcFirstLastPara="1" wrap="square" lIns="89600" tIns="44800" rIns="89600" bIns="44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" name="Google Shape;102;p3">
              <a:extLst>
                <a:ext uri="{FF2B5EF4-FFF2-40B4-BE49-F238E27FC236}">
                  <a16:creationId xmlns:a16="http://schemas.microsoft.com/office/drawing/2014/main" id="{D389CD19-E32E-801F-F081-9894220D1DC8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664254" y="1820415"/>
              <a:ext cx="597456" cy="5974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" name="תמונה 26" descr="תמונה שמכילה סרט מצויר, עיצוב גרפי, גרפיקה, אומנות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B27FCD36-0534-9E4E-5C61-CC8082D246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96274" y="247939"/>
            <a:ext cx="926630" cy="967775"/>
          </a:xfrm>
          <a:prstGeom prst="rect">
            <a:avLst/>
          </a:prstGeom>
        </p:spPr>
      </p:pic>
      <p:cxnSp>
        <p:nvCxnSpPr>
          <p:cNvPr id="41" name="מחבר ישר 40">
            <a:extLst>
              <a:ext uri="{FF2B5EF4-FFF2-40B4-BE49-F238E27FC236}">
                <a16:creationId xmlns:a16="http://schemas.microsoft.com/office/drawing/2014/main" id="{EA68F50F-5D8C-2606-0807-2AEFC080EB8F}"/>
              </a:ext>
            </a:extLst>
          </p:cNvPr>
          <p:cNvCxnSpPr>
            <a:cxnSpLocks/>
          </p:cNvCxnSpPr>
          <p:nvPr/>
        </p:nvCxnSpPr>
        <p:spPr>
          <a:xfrm>
            <a:off x="519040" y="5449342"/>
            <a:ext cx="110368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Google Shape;444;p16">
            <a:hlinkClick r:id="rId11"/>
            <a:extLst>
              <a:ext uri="{FF2B5EF4-FFF2-40B4-BE49-F238E27FC236}">
                <a16:creationId xmlns:a16="http://schemas.microsoft.com/office/drawing/2014/main" id="{CA325E07-CCAA-9F6B-DF5E-4C953D03558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 l="22859" t="33712" r="22859" b="33711"/>
          <a:stretch/>
        </p:blipFill>
        <p:spPr>
          <a:xfrm>
            <a:off x="8278867" y="5677943"/>
            <a:ext cx="613247" cy="228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45;p16">
            <a:hlinkClick r:id="rId13"/>
            <a:extLst>
              <a:ext uri="{FF2B5EF4-FFF2-40B4-BE49-F238E27FC236}">
                <a16:creationId xmlns:a16="http://schemas.microsoft.com/office/drawing/2014/main" id="{B6B5B73B-ADAF-DE8D-B2A8-3C6D56BA2CA6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416656" y="5705574"/>
            <a:ext cx="282402" cy="286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443;p16">
            <a:hlinkClick r:id="rId3"/>
            <a:extLst>
              <a:ext uri="{FF2B5EF4-FFF2-40B4-BE49-F238E27FC236}">
                <a16:creationId xmlns:a16="http://schemas.microsoft.com/office/drawing/2014/main" id="{7E47B00F-E9A9-8B18-7D7E-9E36BD7CBB6D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138222" y="5727011"/>
            <a:ext cx="285740" cy="296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תמונה 7" descr="תמונה שמכילה טקסט, עיגול, סימן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9AEA4E58-A503-A271-1BC0-7BC1F882E5F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38172" y="311551"/>
            <a:ext cx="604890" cy="624402"/>
          </a:xfrm>
          <a:prstGeom prst="rect">
            <a:avLst/>
          </a:prstGeom>
        </p:spPr>
      </p:pic>
      <p:pic>
        <p:nvPicPr>
          <p:cNvPr id="28" name="תמונה 27" descr="תמונה שמכילה עיצוב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45103F39-96A1-AD9C-9143-EE8A924172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43062" y="296019"/>
            <a:ext cx="911508" cy="58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47254"/>
      </p:ext>
    </p:extLst>
  </p:cSld>
  <p:clrMapOvr>
    <a:masterClrMapping/>
  </p:clrMapOvr>
</p:sld>
</file>

<file path=ppt/theme/theme1.xml><?xml version="1.0" encoding="utf-8"?>
<a:theme xmlns:a="http://schemas.openxmlformats.org/drawingml/2006/main" name="2_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201</Words>
  <Application>Microsoft Office PowerPoint</Application>
  <PresentationFormat>מותאם אישית</PresentationFormat>
  <Paragraphs>37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Quattrocento Sans</vt:lpstr>
      <vt:lpstr>Assistant</vt:lpstr>
      <vt:lpstr>Arial</vt:lpstr>
      <vt:lpstr>2_White</vt:lpstr>
      <vt:lpstr>מהלך השקפה מציע לך השנה ארבעה מסלולים שונים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מהלך השקפה מציע לך השנה ארבעה מסלולים שונים</dc:title>
  <dc:creator>Ortal Bar</dc:creator>
  <cp:lastModifiedBy>לבנת גלמן</cp:lastModifiedBy>
  <cp:revision>37</cp:revision>
  <dcterms:created xsi:type="dcterms:W3CDTF">2020-06-03T10:34:51Z</dcterms:created>
  <dcterms:modified xsi:type="dcterms:W3CDTF">2026-05-11T09:36:53Z</dcterms:modified>
</cp:coreProperties>
</file>